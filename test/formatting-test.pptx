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4400">
                <a:solidFill>
                  <a:srgbClr val="000000"/>
                </a:solidFill>
              </a:rPr>
              <a:t/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000">
                <a:solidFill>
                  <a:srgbClr val="000000"/>
                </a:solidFill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Text Formatting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/>
            <a:endParaRPr lang="en-US"/>
            <a:r>
              <a:rPr sz="1800"/>
              <a:rPr lang="en-US"/>
              <a:t>This slide has </a:t>
            </a:r>
            <a:r>
              <a:rPr sz="1800"/>
              <a:rPr b="1"/>
              <a:rPr lang="en-US"/>
              <a:t>bold text</a:t>
            </a:r>
            <a:r>
              <a:rPr sz="1800"/>
              <a:rPr lang="en-US"/>
              <a:t>, </a:t>
            </a:r>
            <a:r>
              <a:rPr sz="1800"/>
              <a:rPr i="1"/>
              <a:rPr lang="en-US"/>
              <a:t>italic text</a:t>
            </a:r>
            <a:r>
              <a:rPr sz="1800"/>
              <a:rPr lang="en-US"/>
              <a:t>, and </a:t>
            </a:r>
            <a:r>
              <a:rPr sz="1800"/>
              <a:rPr u="sng"/>
              <a:rPr lang="en-US"/>
              <a:t>underlined text</a:t>
            </a:r>
            <a:r>
              <a:rPr sz="1800"/>
              <a:rPr lang="en-US"/>
              <a:t>.
</a:t>
            </a:r>
          </a:p>
          <a:p>
            <a:pPr/>
            <a:endParaRPr lang="en-US"/>
            <a:r>
              <a:rPr sz="1800"/>
              <a:rPr lang="en-US"/>
              <a:t>You can also combine formatting like </a:t>
            </a:r>
            <a:r>
              <a:rPr sz="1800"/>
              <a:rPr b="1"/>
              <a:rPr lang="en-US"/>
              <a:t>bold and </a:t>
            </a:r>
            <a:r>
              <a:rPr sz="1800"/>
              <a:rPr b="1"/>
              <a:rPr i="1"/>
              <a:rPr lang="en-US"/>
              <a:t>italic</a:t>
            </a:r>
            <a:r>
              <a:rPr sz="1800"/>
              <a:rPr lang="en-US"/>
              <a:t>together.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Code and Verbatim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/>
            <a:endParaRPr lang="en-US"/>
            <a:r>
              <a:rPr sz="1800"/>
              <a:rPr lang="en-US"/>
              <a:t>Inline code looks like </a:t>
            </a:r>
            <a:r>
              <a:rPr sz="1800"/>
              <a:rPr lang="en-US">
                <a:latin typeface="Courier New"/>
              </a:rPr>
              <a:t>printf(&amp;quot;hello&amp;quot;)</a:t>
            </a:r>
            <a:r>
              <a:rPr sz="1800"/>
              <a:rPr lang="en-US"/>
              <a:t>in the text.
</a:t>
            </a:r>
          </a:p>
          <a:p>
            <a:pPr/>
            <a:endParaRPr lang="en-US"/>
            <a:r>
              <a:rPr sz="1800"/>
              <a:rPr lang="en-US"/>
              <a:t>Verbatim text is shown as </a:t>
            </a:r>
            <a:r>
              <a:rPr sz="1800"/>
              <a:rPr lang="en-US">
                <a:latin typeface="Courier New"/>
              </a:rPr>
              <a:t>literal text</a:t>
            </a:r>
            <a:r>
              <a:rPr sz="1800"/>
              <a:rPr lang="en-US"/>
              <a:t>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Mixed Content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/>
            <a:endParaRPr lang="en-US"/>
            <a:r>
              <a:rPr sz="1800"/>
              <a:rPr lang="en-US"/>
              <a:t>Here&amp;apos;s a paragraph with </a:t>
            </a:r>
            <a:r>
              <a:rPr sz="1800"/>
              <a:rPr b="1"/>
              <a:rPr lang="en-US"/>
              <a:t>bold</a:t>
            </a:r>
            <a:r>
              <a:rPr sz="1800"/>
              <a:rPr lang="en-US"/>
              <a:t>, </a:t>
            </a:r>
            <a:r>
              <a:rPr sz="1800"/>
              <a:rPr i="1"/>
              <a:rPr lang="en-US"/>
              <a:t>italic</a:t>
            </a:r>
            <a:r>
              <a:rPr sz="1800"/>
              <a:rPr lang="en-US"/>
              <a:t>, </a:t>
            </a:r>
            <a:r>
              <a:rPr sz="1800"/>
              <a:rPr u="sng"/>
              <a:rPr lang="en-US"/>
              <a:t>underline</a:t>
            </a:r>
            <a:r>
              <a:rPr sz="1800"/>
              <a:rPr lang="en-US"/>
              <a:t>, and </a:t>
            </a:r>
            <a:r>
              <a:rPr sz="1800"/>
              <a:rPr lang="en-US">
                <a:latin typeface="Courier New"/>
              </a:rPr>
              <a:t>code</a:t>
            </a:r>
            <a:r>
              <a:rPr sz="1800"/>
              <a:rPr lang="en-US"/>
              <a:t>all mixed together.
</a:t>
            </a:r>
          </a:p>
          <a:p>
            <a:pPr/>
            <a:endParaRPr lang="en-US"/>
            <a:r>
              <a:rPr sz="1800"/>
              <a:rPr b="1"/>
              <a:rPr lang="en-US"/>
              <a:t>This whole sentence is bold, with </a:t>
            </a:r>
            <a:r>
              <a:rPr sz="1800"/>
              <a:rPr b="1"/>
              <a:rPr i="1"/>
              <a:rPr lang="en-US"/>
              <a:t>italic inside</a:t>
            </a:r>
            <a:r>
              <a:rPr sz="1800"/>
              <a:rPr b="1"/>
              <a:rPr lang="en-US"/>
              <a:t>it.</a:t>
            </a:r>
            <a:r>
              <a:rPr sz="1800"/>
              <a:rPr lang="en-US"/>
              <a:t>
</a:t>
            </a:r>
          </a:p>
          <a:p>
            <a:pPr/>
            <a:endParaRPr lang="en-US"/>
            <a:r>
              <a:rPr sz="1800"/>
              <a:rPr i="1"/>
              <a:rPr lang="en-US"/>
              <a:t>This whole sentence is italic, with </a:t>
            </a:r>
            <a:r>
              <a:rPr sz="1800"/>
              <a:rPr i="1"/>
              <a:rPr b="1"/>
              <a:rPr lang="en-US"/>
              <a:t>bold inside</a:t>
            </a:r>
            <a:r>
              <a:rPr sz="1800"/>
              <a:rPr i="1"/>
              <a:rPr lang="en-US"/>
              <a:t>it.</a:t>
            </a:r>
            <a:r>
              <a:rPr sz="1800"/>
              <a:rPr lang="en-US"/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